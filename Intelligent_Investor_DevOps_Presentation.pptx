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project goal: a finance app built to demonstrate a complete DevOps lifecycle, not just UI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project was built as a DevOps project first: reproducibility, testing and delivery are graded heavily.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app here: enter salary, calculate, save profile, refresh and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explain the whole system before drilling into the layers. Mention Docker Compose is the local runtime and kind is the Kubernetes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being honest: CI delivers to Docker Hub and Kubernetes is local kind. Cloud deployment is a clear next step, not part of the current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868680"/>
            <a:ext cx="47548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Intelligent</a:t>
            </a:r>
            <a:endParaRPr lang="en-US" sz="4500" dirty="0"/>
          </a:p>
          <a:p>
            <a:pPr indent="0" marL="0">
              <a:buNone/>
            </a:pPr>
            <a:r>
              <a:rPr lang="en-US" sz="45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Investor Platform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658368" y="2331720"/>
            <a:ext cx="51663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6F70"/>
                </a:solidFill>
              </a:rPr>
              <a:t>DevOps Capstone Project · Financial planning web app with production-style delivery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2834640"/>
            <a:ext cx="3429000" cy="310896"/>
          </a:xfrm>
          <a:prstGeom prst="rect">
            <a:avLst/>
          </a:prstGeom>
          <a:solidFill>
            <a:srgbClr val="DFF1EE"/>
          </a:solidFill>
          <a:ln>
            <a:solidFill>
              <a:srgbClr val="127B72">
                <a:alpha val="4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7B72"/>
                </a:solidFill>
              </a:rPr>
              <a:t>Docker · CI/CD · Testing · Kubernetes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58368" y="3246120"/>
            <a:ext cx="4069080" cy="310896"/>
          </a:xfrm>
          <a:prstGeom prst="rect">
            <a:avLst/>
          </a:prstGeom>
          <a:solidFill>
            <a:srgbClr val="DDEBFA"/>
          </a:solidFill>
          <a:ln>
            <a:solidFill>
              <a:srgbClr val="0B4E8A">
                <a:alpha val="4000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4E8A"/>
                </a:solidFill>
              </a:rPr>
              <a:t>Git workflow: feature → dev → stage → main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25880" y="5029200"/>
            <a:ext cx="868680" cy="0"/>
          </a:xfrm>
          <a:prstGeom prst="line">
            <a:avLst/>
          </a:prstGeom>
          <a:noFill/>
          <a:ln w="2032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5029200"/>
            <a:ext cx="868680" cy="0"/>
          </a:xfrm>
          <a:prstGeom prst="line">
            <a:avLst/>
          </a:prstGeom>
          <a:noFill/>
          <a:ln w="2032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43400" y="5029200"/>
            <a:ext cx="868680" cy="0"/>
          </a:xfrm>
          <a:prstGeom prst="line">
            <a:avLst/>
          </a:prstGeom>
          <a:noFill/>
          <a:ln w="2032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852160" y="5029200"/>
            <a:ext cx="868680" cy="0"/>
          </a:xfrm>
          <a:prstGeom prst="line">
            <a:avLst/>
          </a:prstGeom>
          <a:noFill/>
          <a:ln w="2032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360920" y="5029200"/>
            <a:ext cx="868680" cy="0"/>
          </a:xfrm>
          <a:prstGeom prst="line">
            <a:avLst/>
          </a:prstGeom>
          <a:noFill/>
          <a:ln w="20320">
            <a:solidFill>
              <a:srgbClr val="0B4E8A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869680" y="5029200"/>
            <a:ext cx="868680" cy="0"/>
          </a:xfrm>
          <a:prstGeom prst="line">
            <a:avLst/>
          </a:prstGeom>
          <a:noFill/>
          <a:ln w="20320">
            <a:solidFill>
              <a:srgbClr val="0B4E8A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2920" y="480060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D49"/>
                </a:solidFill>
              </a:rPr>
              <a:t>Code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480060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D49"/>
                </a:solidFill>
              </a:rPr>
              <a:t>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480060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D49"/>
                </a:solidFill>
              </a:rPr>
              <a:t>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4800600"/>
            <a:ext cx="10058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4D49"/>
                </a:solidFill>
              </a:rPr>
              <a:t>Compose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800600"/>
            <a:ext cx="1005840" cy="475488"/>
          </a:xfrm>
          <a:prstGeom prst="rect">
            <a:avLst/>
          </a:prstGeom>
          <a:solidFill>
            <a:srgbClr val="F7FB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E8A"/>
                </a:solidFill>
              </a:rPr>
              <a:t>E2E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046720" y="4800600"/>
            <a:ext cx="1005840" cy="475488"/>
          </a:xfrm>
          <a:prstGeom prst="rect">
            <a:avLst/>
          </a:prstGeom>
          <a:solidFill>
            <a:srgbClr val="F7FB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E8A"/>
                </a:solidFill>
              </a:rPr>
              <a:t>Docker Hub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555480" y="4800600"/>
            <a:ext cx="1005840" cy="475488"/>
          </a:xfrm>
          <a:prstGeom prst="rect">
            <a:avLst/>
          </a:prstGeom>
          <a:solidFill>
            <a:srgbClr val="F7FB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4E8A"/>
                </a:solidFill>
              </a:rPr>
              <a:t>K8s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960120"/>
            <a:ext cx="4526280" cy="2423160"/>
          </a:xfrm>
          <a:prstGeom prst="rect">
            <a:avLst/>
          </a:prstGeom>
          <a:solidFill>
            <a:srgbClr val="0D4D49"/>
          </a:solidFill>
          <a:ln>
            <a:solidFill>
              <a:srgbClr val="0D4D49"/>
            </a:solidFill>
          </a:ln>
        </p:spPr>
        <p:txBody>
          <a:bodyPr wrap="square" lIns="2794" tIns="2794" rIns="2794" bIns="279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Live demo focus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Calculate budget buckets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Save/load profiles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CI/CD green run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• Kubernetes self-healing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58368" y="6263640"/>
            <a:ext cx="3657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F70"/>
                </a:solidFill>
              </a:rPr>
              <a:t>Presented by Idan Veprinski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Goal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Turn an academic web app into a complete DevOps delivery system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PROBLEM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4114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2023"/>
                </a:solidFill>
              </a:rPr>
              <a:t>A personal finance app is easy to demo locally, but harder to deliver reliably.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416052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23"/>
                </a:solidFill>
              </a:rPr>
              <a:t>Manual setup creates “works on my machine” risk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Database state must persist across restarts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Tests must run automatically before delivery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Deployment should be reproducible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123444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SOLUTION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0" y="2788920"/>
            <a:ext cx="155448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63840" y="2788920"/>
            <a:ext cx="155448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012680" y="2788920"/>
            <a:ext cx="105156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074920" y="2240280"/>
            <a:ext cx="1143000" cy="9601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Salary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Input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12280" y="2240280"/>
            <a:ext cx="1325880" cy="96012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4 Budget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Buckets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98280" y="2240280"/>
            <a:ext cx="14173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15-Year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Projection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44200" y="2240280"/>
            <a:ext cx="1143000" cy="96012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Saved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Profiles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3"/>
                </a:solidFill>
              </a:rPr>
              <a:t>Definition of success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4434840"/>
            <a:ext cx="534924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23"/>
                </a:solidFill>
              </a:rPr>
              <a:t>Application runs with one Docker Compose command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Unit, integration and browser E2E tests pass in CI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Docker image is published automatically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Kubernetes deployment demonstrates resilience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Features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A small finance product with enough behavior to test and deliver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023"/>
                </a:solidFill>
              </a:rPr>
              <a:t>Live Web Dashboard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063240" cy="132588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02023"/>
                </a:solidFill>
              </a:rPr>
              <a:t>Gross Salary: 10,000 ₪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023"/>
                </a:solidFill>
              </a:rPr>
              <a:t>Bank Net: optional override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02023"/>
                </a:solidFill>
              </a:rPr>
              <a:t>Projection: 5 / 10 / 15 years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34840" y="1508760"/>
            <a:ext cx="2834640" cy="210312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Calculated Output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Fixed Costs 52.5%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Savings 10%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Investments 10%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Guilt-Free 27.5%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18120" y="1508760"/>
            <a:ext cx="3017520" cy="210312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Profiles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Save current plan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Refresh list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Load profile after reload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PROJECTION CHART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4526280"/>
            <a:ext cx="10332720" cy="0"/>
          </a:xfrm>
          <a:prstGeom prst="line">
            <a:avLst/>
          </a:prstGeom>
          <a:noFill/>
          <a:ln w="6350">
            <a:solidFill>
              <a:srgbClr val="D5E0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4818888"/>
            <a:ext cx="10332720" cy="0"/>
          </a:xfrm>
          <a:prstGeom prst="line">
            <a:avLst/>
          </a:prstGeom>
          <a:noFill/>
          <a:ln w="6350">
            <a:solidFill>
              <a:srgbClr val="D5E0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5111496"/>
            <a:ext cx="10332720" cy="0"/>
          </a:xfrm>
          <a:prstGeom prst="line">
            <a:avLst/>
          </a:prstGeom>
          <a:noFill/>
          <a:ln w="6350">
            <a:solidFill>
              <a:srgbClr val="D5E0D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5404104"/>
            <a:ext cx="10332720" cy="0"/>
          </a:xfrm>
          <a:prstGeom prst="line">
            <a:avLst/>
          </a:prstGeom>
          <a:noFill/>
          <a:ln w="6350">
            <a:solidFill>
              <a:srgbClr val="D5E0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696712"/>
            <a:ext cx="10332720" cy="0"/>
          </a:xfrm>
          <a:prstGeom prst="line">
            <a:avLst/>
          </a:prstGeom>
          <a:noFill/>
          <a:ln w="6350">
            <a:solidFill>
              <a:srgbClr val="D5E0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5577840"/>
            <a:ext cx="2286000" cy="-201168"/>
          </a:xfrm>
          <a:prstGeom prst="line">
            <a:avLst/>
          </a:prstGeom>
          <a:noFill/>
          <a:ln w="38100">
            <a:solidFill>
              <a:srgbClr val="127B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5376672"/>
            <a:ext cx="2377440" cy="-256032"/>
          </a:xfrm>
          <a:prstGeom prst="line">
            <a:avLst/>
          </a:prstGeom>
          <a:noFill/>
          <a:ln w="38100">
            <a:solidFill>
              <a:srgbClr val="127B7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5120640"/>
            <a:ext cx="2560320" cy="-274320"/>
          </a:xfrm>
          <a:prstGeom prst="line">
            <a:avLst/>
          </a:prstGeom>
          <a:noFill/>
          <a:ln w="38100">
            <a:solidFill>
              <a:srgbClr val="127B7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3880" y="4846320"/>
            <a:ext cx="2834640" cy="-210312"/>
          </a:xfrm>
          <a:prstGeom prst="line">
            <a:avLst/>
          </a:prstGeom>
          <a:noFill/>
          <a:ln w="38100">
            <a:solidFill>
              <a:srgbClr val="127B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532120"/>
            <a:ext cx="91440" cy="91440"/>
          </a:xfrm>
          <a:prstGeom prst="ellipse">
            <a:avLst/>
          </a:prstGeom>
          <a:solidFill>
            <a:srgbClr val="127B72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5330952"/>
            <a:ext cx="91440" cy="91440"/>
          </a:xfrm>
          <a:prstGeom prst="ellipse">
            <a:avLst/>
          </a:prstGeom>
          <a:solidFill>
            <a:srgbClr val="127B72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5074920"/>
            <a:ext cx="91440" cy="91440"/>
          </a:xfrm>
          <a:prstGeom prst="ellipse">
            <a:avLst/>
          </a:prstGeom>
          <a:solidFill>
            <a:srgbClr val="127B72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8160" y="4800600"/>
            <a:ext cx="91440" cy="91440"/>
          </a:xfrm>
          <a:prstGeom prst="ellipse">
            <a:avLst/>
          </a:prstGeom>
          <a:solidFill>
            <a:srgbClr val="127B72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72800" y="4590288"/>
            <a:ext cx="91440" cy="91440"/>
          </a:xfrm>
          <a:prstGeom prst="ellipse">
            <a:avLst/>
          </a:prstGeom>
          <a:solidFill>
            <a:srgbClr val="127B72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8978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F70"/>
                </a:solidFill>
              </a:rPr>
              <a:t>7% annual return assumption · monthly investment compounding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Application architecture, CI/CD pipeline and target Kubernetes view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pic>
        <p:nvPicPr>
          <p:cNvPr id="6" name="Image 0" descr="/mnt/data/a_clean_technical_architecture_diagram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7430" y="1078992"/>
            <a:ext cx="7612380" cy="5074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6327648"/>
            <a:ext cx="9509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6F70"/>
                </a:solidFill>
              </a:rPr>
              <a:t>Note: Kubernetes section is documented as the target deployment view; local kind implementation runs backend + PostgreSQL.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Backend API Design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Express routes stay thin; financial logic is tested separately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4E8A"/>
                </a:solidFill>
              </a:rPr>
              <a:t>REST ENDPOINTS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1920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8A"/>
                </a:solidFill>
              </a:rPr>
              <a:t>GET /health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1746504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3"/>
                </a:solidFill>
              </a:rPr>
              <a:t>App alive + DB connected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1920240" cy="411480"/>
          </a:xfrm>
          <a:prstGeom prst="rect">
            <a:avLst/>
          </a:prstGeom>
          <a:solidFill>
            <a:srgbClr val="DDEBFA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8A"/>
                </a:solidFill>
              </a:rPr>
              <a:t>POST /calculate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2340864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3"/>
                </a:solidFill>
              </a:rPr>
              <a:t>Budget buckets + projection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2880360"/>
            <a:ext cx="1920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8A"/>
                </a:solidFill>
              </a:rPr>
              <a:t>POST /profiles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88920" y="2935224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3"/>
                </a:solidFill>
              </a:rPr>
              <a:t>Save profile to PostgreSQL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1920240" cy="411480"/>
          </a:xfrm>
          <a:prstGeom prst="rect">
            <a:avLst/>
          </a:prstGeom>
          <a:solidFill>
            <a:srgbClr val="DDEBFA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8A"/>
                </a:solidFill>
              </a:rPr>
              <a:t>GET /profiles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788920" y="3529584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3"/>
                </a:solidFill>
              </a:rPr>
              <a:t>List saved profiles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1920240" cy="41148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B4E8A"/>
                </a:solidFill>
              </a:rPr>
              <a:t>GET /profiles/:id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88920" y="4123944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2023"/>
                </a:solidFill>
              </a:rPr>
              <a:t>Load a specific profile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12344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SEPARATION OF CONCERNS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58000" y="2834640"/>
            <a:ext cx="109728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869680" y="2834640"/>
            <a:ext cx="109728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6263640" y="2240280"/>
            <a:ext cx="128016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Express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02023"/>
                </a:solidFill>
              </a:rPr>
              <a:t>Routes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18120" y="2148840"/>
            <a:ext cx="1508760" cy="137160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23"/>
                </a:solidFill>
              </a:rPr>
              <a:t>calculator.js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23"/>
                </a:solidFill>
              </a:rPr>
              <a:t>Pure functions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29800" y="2240280"/>
            <a:ext cx="14173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3995"/>
                </a:solidFill>
              </a:rPr>
              <a:t>PostgreSQL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B3995"/>
                </a:solidFill>
              </a:rPr>
              <a:t>JSONB storage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4160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3"/>
                </a:solidFill>
              </a:rPr>
              <a:t>Design choices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4617720"/>
            <a:ext cx="480060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23"/>
                </a:solidFill>
              </a:rPr>
              <a:t>Input validation at API boundary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Financial math isolated for unit testing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Profiles and calculations persisted as JSONB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Health endpoint validates DB availability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&amp; Persistence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PostgreSQL provides durable storage for calculations and profiles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685800" y="12344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3995"/>
                </a:solidFill>
              </a:rPr>
              <a:t>TABLES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74320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last_calculation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id SERIAL PK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result JSONB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created_at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977640" y="1737360"/>
            <a:ext cx="2971800" cy="2331720"/>
          </a:xfrm>
          <a:prstGeom prst="rect">
            <a:avLst/>
          </a:prstGeom>
          <a:solidFill>
            <a:srgbClr val="EDE6FA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profiles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id SERIAL PK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profile_name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years CHECK 1–15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result JSONB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02023"/>
                </a:solidFill>
              </a:rPr>
              <a:t>• created_at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26680" y="123444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PERSISTENCE LAYERS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183880" y="2514600"/>
            <a:ext cx="150876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15400" y="3977640"/>
            <a:ext cx="0" cy="777240"/>
          </a:xfrm>
          <a:prstGeom prst="line">
            <a:avLst/>
          </a:prstGeom>
          <a:noFill/>
          <a:ln w="25400">
            <a:solidFill>
              <a:srgbClr val="5B399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7635240" y="1965960"/>
            <a:ext cx="1600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Docker Compose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Named volume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db_data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921240" y="1965960"/>
            <a:ext cx="1600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Kubernetes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PVC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ii-postgres-pvc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63840" y="4892040"/>
            <a:ext cx="3931920" cy="73152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4D49"/>
                </a:solidFill>
              </a:rPr>
              <a:t>PostgreSQL data survives container / pod restarts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709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023"/>
                </a:solidFill>
              </a:rPr>
              <a:t>Why JSONB?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8680" y="5102352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E6F70"/>
                </a:solidFill>
              </a:rPr>
              <a:t>The calculation result is a structured object containing the salary, bucket allocation and yearly projection. JSONB keeps the result self-contained while PostgreSQL still handles persistence, indexing options and backups.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Docker Compose Runtime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One command starts the full local environment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148840" y="2971800"/>
            <a:ext cx="21488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760720" y="2971800"/>
            <a:ext cx="21488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83480" y="4114800"/>
            <a:ext cx="0" cy="914400"/>
          </a:xfrm>
          <a:prstGeom prst="line">
            <a:avLst/>
          </a:prstGeom>
          <a:noFill/>
          <a:ln w="25400">
            <a:solidFill>
              <a:srgbClr val="5B399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2331720"/>
            <a:ext cx="17830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4D49"/>
                </a:solidFill>
              </a:rPr>
              <a:t>frontend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4D49"/>
                </a:solidFill>
              </a:rPr>
              <a:t>Nginx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4D49"/>
                </a:solidFill>
              </a:rPr>
              <a:t>:8080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069080" y="2331720"/>
            <a:ext cx="1965960" cy="128016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4D49"/>
                </a:solidFill>
              </a:rPr>
              <a:t>backend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4D49"/>
                </a:solidFill>
              </a:rPr>
              <a:t>Node / Express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D4D49"/>
                </a:solidFill>
              </a:rPr>
              <a:t>:3001 → :5000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26680" y="2331720"/>
            <a:ext cx="187452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3995"/>
                </a:solidFill>
              </a:rPr>
              <a:t>db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5B3995"/>
                </a:solidFill>
              </a:rPr>
              <a:t>PostgreSQL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5B3995"/>
                </a:solidFill>
              </a:rPr>
              <a:t>:5432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86200" y="5029200"/>
            <a:ext cx="2240280" cy="1005840"/>
          </a:xfrm>
          <a:prstGeom prst="rect">
            <a:avLst/>
          </a:prstGeom>
          <a:solidFill>
            <a:srgbClr val="FFF9EA"/>
          </a:solidFill>
          <a:ln>
            <a:solidFill>
              <a:srgbClr val="C5841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2023"/>
                </a:solidFill>
              </a:rPr>
              <a:t>.env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23"/>
                </a:solidFill>
              </a:rPr>
              <a:t>POSTGRES_USER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23"/>
                </a:solidFill>
              </a:rPr>
              <a:t>POSTGRES_PASSWORD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02023"/>
                </a:solidFill>
              </a:rPr>
              <a:t>POSTGRES_DB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921240" y="14173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4E8A"/>
                </a:solidFill>
              </a:rPr>
              <a:t>KEY FILES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66960" y="1828800"/>
            <a:ext cx="164592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100" dirty="0">
                <a:solidFill>
                  <a:srgbClr val="102023"/>
                </a:solidFill>
              </a:rPr>
              <a:t>docker-compose.yml</a:t>
            </a:r>
            <a:endParaRPr lang="en-US" sz="1100" dirty="0"/>
          </a:p>
          <a:p>
            <a:r>
              <a:rPr lang="en-US" sz="1100" dirty="0">
                <a:solidFill>
                  <a:srgbClr val="102023"/>
                </a:solidFill>
              </a:rPr>
              <a:t>backend/Dockerfile</a:t>
            </a:r>
            <a:endParaRPr lang="en-US" sz="1100" dirty="0"/>
          </a:p>
          <a:p>
            <a:r>
              <a:rPr lang="en-US" sz="1100" dirty="0">
                <a:solidFill>
                  <a:srgbClr val="102023"/>
                </a:solidFill>
              </a:rPr>
              <a:t>backend/.dockerignore</a:t>
            </a:r>
            <a:endParaRPr lang="en-US" sz="1100" dirty="0"/>
          </a:p>
          <a:p>
            <a:r>
              <a:rPr lang="en-US" sz="1100" dirty="0">
                <a:solidFill>
                  <a:srgbClr val="102023"/>
                </a:solidFill>
              </a:rPr>
              <a:t>.env.example</a:t>
            </a:r>
            <a:endParaRPr lang="en-US" sz="1100" dirty="0"/>
          </a:p>
          <a:p>
            <a:r>
              <a:rPr lang="en-US" sz="1100" dirty="0">
                <a:solidFill>
                  <a:srgbClr val="102023"/>
                </a:solidFill>
              </a:rPr>
              <a:t>db/init.sql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966960" y="4663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Command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66960" y="4983480"/>
            <a:ext cx="1920240" cy="411480"/>
          </a:xfrm>
          <a:prstGeom prst="rect">
            <a:avLst/>
          </a:prstGeom>
          <a:solidFill>
            <a:srgbClr val="0D4D49"/>
          </a:solidFill>
          <a:ln>
            <a:solidFill>
              <a:srgbClr val="0D4D49"/>
            </a:solidFill>
          </a:ln>
        </p:spPr>
        <p:txBody>
          <a:bodyPr wrap="square" lIns="889" tIns="889" rIns="889" bIns="889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docker compose up --build -d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Strategy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Automated checks catch logic, API and browser-level failures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4206240"/>
            <a:ext cx="3200400" cy="1005840"/>
          </a:xfrm>
          <a:prstGeom prst="trapezoid">
            <a:avLst/>
          </a:prstGeom>
          <a:solidFill>
            <a:srgbClr val="DFF1EE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4434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4D49"/>
                </a:solidFill>
              </a:rPr>
              <a:t>E2E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D4D49"/>
                </a:solidFill>
              </a:rPr>
              <a:t>Playwright browser test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61872" y="3154680"/>
            <a:ext cx="2514600" cy="1005840"/>
          </a:xfrm>
          <a:prstGeom prst="trapezoid">
            <a:avLst/>
          </a:prstGeom>
          <a:solidFill>
            <a:srgbClr val="DDEBFA"/>
          </a:solidFill>
          <a:ln w="12700">
            <a:solidFill>
              <a:srgbClr val="0B4E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44752" y="336499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4E8A"/>
                </a:solidFill>
              </a:rPr>
              <a:t>Integration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4E8A"/>
                </a:solidFill>
              </a:rPr>
              <a:t>Supertest API tests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00200" y="2103120"/>
            <a:ext cx="1828800" cy="1005840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127B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235915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23"/>
                </a:solidFill>
              </a:rPr>
              <a:t>Unit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23"/>
                </a:solidFill>
              </a:rPr>
              <a:t>calculator.js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1600200"/>
            <a:ext cx="2880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023"/>
                </a:solidFill>
              </a:rPr>
              <a:t>Unit tests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02023"/>
                </a:solidFill>
              </a:rPr>
              <a:t>Pure financial math: net estimate, buckets and projection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2880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023"/>
                </a:solidFill>
              </a:rPr>
              <a:t>Integration tests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02023"/>
                </a:solidFill>
              </a:rPr>
              <a:t>/health, /calculate and /profiles with mocked DB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4572000" y="4160520"/>
            <a:ext cx="2880360" cy="914400"/>
          </a:xfrm>
          <a:prstGeom prst="rect">
            <a:avLst/>
          </a:prstGeom>
          <a:solidFill>
            <a:srgbClr val="FFFFFF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023"/>
                </a:solidFill>
              </a:rPr>
              <a:t>E2E tests</a:t>
            </a:r>
            <a:endParaRPr lang="en-US" sz="1320" dirty="0"/>
          </a:p>
          <a:p>
            <a:pPr algn="l" indent="0" marL="0">
              <a:buNone/>
            </a:pPr>
            <a:r>
              <a:rPr lang="en-US" sz="1320" dirty="0">
                <a:solidFill>
                  <a:srgbClr val="102023"/>
                </a:solidFill>
              </a:rPr>
              <a:t>Real browser calculates, saves, refreshes and reloads a profile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8229600" y="14630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COMMANDS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1828800"/>
            <a:ext cx="3246120" cy="1097280"/>
          </a:xfrm>
          <a:prstGeom prst="rect">
            <a:avLst/>
          </a:prstGeom>
          <a:solidFill>
            <a:srgbClr val="0D4D49"/>
          </a:solidFill>
          <a:ln>
            <a:solidFill>
              <a:srgbClr val="0D4D49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cd backend &amp;&amp; npm test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npm run test:e2e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GitHub Actions runs all checks automatically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365760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841B"/>
                </a:solidFill>
              </a:rPr>
              <a:t>QUALITY GATE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39776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02023"/>
                </a:solidFill>
              </a:rPr>
              <a:t>Docker image is pushed only after the complete automated test suite passes.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CI/CD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GitHub Actions turns a push into a verified Docker image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20240" y="2560320"/>
            <a:ext cx="457200" cy="0"/>
          </a:xfrm>
          <a:prstGeom prst="line">
            <a:avLst/>
          </a:prstGeom>
          <a:noFill/>
          <a:ln w="2159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9000" y="2560320"/>
            <a:ext cx="457200" cy="0"/>
          </a:xfrm>
          <a:prstGeom prst="line">
            <a:avLst/>
          </a:prstGeom>
          <a:noFill/>
          <a:ln w="2159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937760" y="2560320"/>
            <a:ext cx="457200" cy="0"/>
          </a:xfrm>
          <a:prstGeom prst="line">
            <a:avLst/>
          </a:prstGeom>
          <a:noFill/>
          <a:ln w="2159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46520" y="2560320"/>
            <a:ext cx="457200" cy="0"/>
          </a:xfrm>
          <a:prstGeom prst="line">
            <a:avLst/>
          </a:prstGeom>
          <a:noFill/>
          <a:ln w="2159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955280" y="2560320"/>
            <a:ext cx="457200" cy="0"/>
          </a:xfrm>
          <a:prstGeom prst="line">
            <a:avLst/>
          </a:prstGeom>
          <a:noFill/>
          <a:ln w="21590">
            <a:solidFill>
              <a:srgbClr val="0B4E8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64040" y="2560320"/>
            <a:ext cx="457200" cy="0"/>
          </a:xfrm>
          <a:prstGeom prst="line">
            <a:avLst/>
          </a:prstGeom>
          <a:noFill/>
          <a:ln w="21590">
            <a:solidFill>
              <a:srgbClr val="0B4E8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85800" y="1965960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D49"/>
                </a:solidFill>
              </a:rPr>
              <a:t>Push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feature / dev / stage / main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2194560" y="1965960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D49"/>
                </a:solidFill>
              </a:rPr>
              <a:t>Install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backend + E2E dependencies</a:t>
            </a:r>
            <a:endParaRPr lang="en-US" sz="870" dirty="0"/>
          </a:p>
        </p:txBody>
      </p:sp>
      <p:sp>
        <p:nvSpPr>
          <p:cNvPr id="16" name="Text 14"/>
          <p:cNvSpPr/>
          <p:nvPr/>
        </p:nvSpPr>
        <p:spPr>
          <a:xfrm>
            <a:off x="3703320" y="1965960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D49"/>
                </a:solidFill>
              </a:rPr>
              <a:t>Test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1188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unit + integration</a:t>
            </a:r>
            <a:endParaRPr lang="en-US" sz="870" dirty="0"/>
          </a:p>
        </p:txBody>
      </p:sp>
      <p:sp>
        <p:nvSpPr>
          <p:cNvPr id="18" name="Text 16"/>
          <p:cNvSpPr/>
          <p:nvPr/>
        </p:nvSpPr>
        <p:spPr>
          <a:xfrm>
            <a:off x="5212080" y="1965960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D49"/>
                </a:solidFill>
              </a:rPr>
              <a:t>Compose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start full stack + health check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6720840" y="1965960"/>
            <a:ext cx="1143000" cy="50292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4D49"/>
                </a:solidFill>
              </a:rPr>
              <a:t>E2E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Playwright browser test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8229600" y="1965960"/>
            <a:ext cx="1143000" cy="502920"/>
          </a:xfrm>
          <a:prstGeom prst="rect">
            <a:avLst/>
          </a:prstGeom>
          <a:solidFill>
            <a:srgbClr val="DDEBFA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E8A"/>
                </a:solidFill>
              </a:rPr>
              <a:t>Build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3816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backend Docker image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9738360" y="1965960"/>
            <a:ext cx="1143000" cy="502920"/>
          </a:xfrm>
          <a:prstGeom prst="rect">
            <a:avLst/>
          </a:prstGeom>
          <a:solidFill>
            <a:srgbClr val="DDEBFA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4E8A"/>
                </a:solidFill>
              </a:rPr>
              <a:t>Deliver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46920" y="25603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5E6F70"/>
                </a:solidFill>
              </a:rPr>
              <a:t>push latest + SHA to Docker Hub</a:t>
            </a:r>
            <a:endParaRPr lang="en-US" sz="870" dirty="0"/>
          </a:p>
        </p:txBody>
      </p:sp>
      <p:sp>
        <p:nvSpPr>
          <p:cNvPr id="26" name="Text 24"/>
          <p:cNvSpPr/>
          <p:nvPr/>
        </p:nvSpPr>
        <p:spPr>
          <a:xfrm>
            <a:off x="822960" y="388620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841B"/>
                </a:solidFill>
              </a:rPr>
              <a:t>SECURE CONFIGURATION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" y="4251960"/>
            <a:ext cx="420624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23"/>
                </a:solidFill>
              </a:rPr>
              <a:t>Docker Hub credentials stored as GitHub repository secrets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.env is ignored; .env.example documents required variables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Pipeline creates temporary .env for CI Compose run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0" y="38862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4E8A"/>
                </a:solidFill>
              </a:rPr>
              <a:t>DELIVERY ARTIFACT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00800" y="4251960"/>
            <a:ext cx="4389120" cy="685800"/>
          </a:xfrm>
          <a:prstGeom prst="rect">
            <a:avLst/>
          </a:prstGeom>
          <a:solidFill>
            <a:srgbClr val="0B4E8A"/>
          </a:solidFill>
          <a:ln>
            <a:solidFill>
              <a:srgbClr val="0B4E8A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idanvep/ii-backend:latest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idanvep/ii-backend:&lt;commit-sha&gt;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5193792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F70"/>
                </a:solidFill>
              </a:rPr>
              <a:t>The pipeline performs Continuous Delivery to Docker Hub. Cloud deployment is a future extension.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Every feature moves through the same controlled path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965960" y="4142232"/>
            <a:ext cx="7772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977640" y="4142232"/>
            <a:ext cx="7772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989320" y="4142232"/>
            <a:ext cx="7772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01000" y="4142232"/>
            <a:ext cx="7772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822960" y="3822192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feature/*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Small isolated changes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3822192"/>
            <a:ext cx="1554480" cy="86868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dev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Integration branch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3822192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E8A"/>
                </a:solidFill>
              </a:rPr>
              <a:t>stage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4E8A"/>
                </a:solidFill>
              </a:rPr>
              <a:t>Pre-release validation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3822192"/>
            <a:ext cx="1554480" cy="868680"/>
          </a:xfrm>
          <a:prstGeom prst="rect">
            <a:avLst/>
          </a:prstGeom>
          <a:solidFill>
            <a:srgbClr val="DDEBFA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4E8A"/>
                </a:solidFill>
              </a:rPr>
              <a:t>main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4E8A"/>
                </a:solidFill>
              </a:rPr>
              <a:t>Stable branch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869680" y="3822192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3995"/>
                </a:solidFill>
              </a:rPr>
              <a:t>Docker Hub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3995"/>
                </a:solidFill>
              </a:rPr>
              <a:t>latest + SHA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143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3"/>
                </a:solidFill>
              </a:rPr>
              <a:t>Examples of feature branches used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60120" y="1554480"/>
            <a:ext cx="402336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23"/>
                </a:solidFill>
              </a:rPr>
              <a:t>feature/github-actions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feature/frontend-dashboard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feature/profiles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feature/kubernetes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feature/e2e-testing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feature/environment-config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0" y="1143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02023"/>
                </a:solidFill>
              </a:rPr>
              <a:t>Why this matters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92240" y="1554480"/>
            <a:ext cx="438912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23"/>
                </a:solidFill>
              </a:rPr>
              <a:t>Each feature can be validated independently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Git history clearly shows the project evolution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Broken changes are stopped before main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The same CI gate runs on every branch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Kubernetes on kind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Local cluster used to demonstrate orchestration behavior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23"/>
                </a:solidFill>
              </a:rPr>
              <a:t>kind cluster: intelligent-investor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03120" y="2788920"/>
            <a:ext cx="164592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394960" y="2788920"/>
            <a:ext cx="1691640" cy="0"/>
          </a:xfrm>
          <a:prstGeom prst="line">
            <a:avLst/>
          </a:prstGeom>
          <a:noFill/>
          <a:ln w="25400">
            <a:solidFill>
              <a:srgbClr val="127B7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092440" y="3840480"/>
            <a:ext cx="0" cy="914400"/>
          </a:xfrm>
          <a:prstGeom prst="line">
            <a:avLst/>
          </a:prstGeom>
          <a:noFill/>
          <a:ln w="25400">
            <a:solidFill>
              <a:srgbClr val="5B399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2148840"/>
            <a:ext cx="17830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4E8A"/>
                </a:solidFill>
              </a:rPr>
              <a:t>Control Plane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0B4E8A"/>
                </a:solidFill>
              </a:rPr>
              <a:t>API server + scheduler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1965960"/>
            <a:ext cx="2057400" cy="1508760"/>
          </a:xfrm>
          <a:prstGeom prst="rect">
            <a:avLst/>
          </a:prstGeom>
          <a:solidFill>
            <a:srgbClr val="DFF1EE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D4D49"/>
                </a:solidFill>
              </a:rPr>
              <a:t>Backend Deployment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0D4D49"/>
                </a:solidFill>
              </a:rPr>
              <a:t>3 replicas</a:t>
            </a:r>
            <a:endParaRPr lang="en-US" sz="1320" dirty="0"/>
          </a:p>
          <a:p>
            <a:pPr algn="ctr" indent="0" marL="0">
              <a:buNone/>
            </a:pPr>
            <a:r>
              <a:rPr lang="en-US" sz="1320" b="1" dirty="0">
                <a:solidFill>
                  <a:srgbClr val="0D4D49"/>
                </a:solidFill>
              </a:rPr>
              <a:t>readiness + liveness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903720" y="2148840"/>
            <a:ext cx="17830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995"/>
                </a:solidFill>
              </a:rPr>
              <a:t>PostgreSQL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B3995"/>
                </a:solidFill>
              </a:rPr>
              <a:t>1 replica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B3995"/>
                </a:solidFill>
              </a:rPr>
              <a:t>PVC storage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646920" y="1600200"/>
            <a:ext cx="182880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C5841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23"/>
                </a:solidFill>
              </a:rPr>
              <a:t>ConfigMap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02023"/>
                </a:solidFill>
              </a:rPr>
              <a:t>DB host, port, name, user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46920" y="2880360"/>
            <a:ext cx="1828800" cy="822960"/>
          </a:xfrm>
          <a:prstGeom prst="rect">
            <a:avLst/>
          </a:prstGeom>
          <a:solidFill>
            <a:srgbClr val="FFF9EA"/>
          </a:solidFill>
          <a:ln>
            <a:solidFill>
              <a:srgbClr val="C5841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Secret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02023"/>
                </a:solidFill>
              </a:rPr>
              <a:t>DB_PASSWORD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95160" y="4983480"/>
            <a:ext cx="2148840" cy="777240"/>
          </a:xfrm>
          <a:prstGeom prst="rect">
            <a:avLst/>
          </a:prstGeom>
          <a:solidFill>
            <a:srgbClr val="EDE6FA"/>
          </a:solidFill>
          <a:ln>
            <a:solidFill>
              <a:srgbClr val="5B399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3995"/>
                </a:solidFill>
              </a:rPr>
              <a:t>PVC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5B3995"/>
                </a:solidFill>
              </a:rPr>
              <a:t>ii-postgres-pvc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617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27B72"/>
                </a:solidFill>
              </a:rPr>
              <a:t>DEMONSTRATED OPERATIONS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914400" y="4965192"/>
            <a:ext cx="512064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250" dirty="0">
                <a:solidFill>
                  <a:srgbClr val="102023"/>
                </a:solidFill>
              </a:rPr>
              <a:t>Self-healing: delete a Pod, Kubernetes restores 3 replicas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Scaling: scale backend from 3 to 5 and back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Rolling update: replace image gradually</a:t>
            </a:r>
            <a:endParaRPr lang="en-US" sz="1250" dirty="0"/>
          </a:p>
          <a:p>
            <a:r>
              <a:rPr lang="en-US" sz="1250" dirty="0">
                <a:solidFill>
                  <a:srgbClr val="102023"/>
                </a:solidFill>
              </a:rPr>
              <a:t>Rollback: recover after ImagePullBackOff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7B72"/>
          </a:solidFill>
          <a:ln w="12700">
            <a:solidFill>
              <a:srgbClr val="127B7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02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Plan &amp;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7132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6F70"/>
                </a:solidFill>
              </a:rPr>
              <a:t>Recommended 15-minute presentation flow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8458200" y="411480"/>
            <a:ext cx="3154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E6F70"/>
                </a:solidFill>
              </a:rPr>
              <a:t>Intelligent Investor · DevOps Capstone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411480" cy="411480"/>
          </a:xfrm>
          <a:prstGeom prst="rect">
            <a:avLst/>
          </a:prstGeom>
          <a:solidFill>
            <a:srgbClr val="127B72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2527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Open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2527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70"/>
                </a:solidFill>
              </a:rPr>
              <a:t>Calculate with 10,000 salary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039112"/>
            <a:ext cx="411480" cy="411480"/>
          </a:xfrm>
          <a:prstGeom prst="rect">
            <a:avLst/>
          </a:prstGeom>
          <a:solidFill>
            <a:srgbClr val="127B72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Profiles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0574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70"/>
                </a:solidFill>
              </a:rPr>
              <a:t>Save, refresh, reload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843784"/>
            <a:ext cx="411480" cy="411480"/>
          </a:xfrm>
          <a:prstGeom prst="rect">
            <a:avLst/>
          </a:prstGeom>
          <a:solidFill>
            <a:srgbClr val="127B72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8620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Docker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862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70"/>
                </a:solidFill>
              </a:rPr>
              <a:t>Show compose services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648456"/>
            <a:ext cx="411480" cy="411480"/>
          </a:xfrm>
          <a:prstGeom prst="rect">
            <a:avLst/>
          </a:prstGeom>
          <a:solidFill>
            <a:srgbClr val="127B72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6667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CI/CD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36667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70"/>
                </a:solidFill>
              </a:rPr>
              <a:t>Show green Actions + Docker Hub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453128"/>
            <a:ext cx="411480" cy="411480"/>
          </a:xfrm>
          <a:prstGeom prst="rect">
            <a:avLst/>
          </a:prstGeom>
          <a:solidFill>
            <a:srgbClr val="127B72"/>
          </a:solidFill>
          <a:ln>
            <a:solidFill>
              <a:srgbClr val="127B7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4714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023"/>
                </a:solidFill>
              </a:rPr>
              <a:t>Kubernetes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4471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F70"/>
                </a:solidFill>
              </a:rPr>
              <a:t>Pods, self-healing, rollback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31520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4E8A"/>
                </a:solidFill>
              </a:rPr>
              <a:t>PROJECT RESULT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60920" y="1627632"/>
            <a:ext cx="3840480" cy="685800"/>
          </a:xfrm>
          <a:prstGeom prst="rect">
            <a:avLst/>
          </a:prstGeom>
          <a:solidFill>
            <a:srgbClr val="DDEBFA"/>
          </a:solidFill>
          <a:ln>
            <a:solidFill>
              <a:srgbClr val="0B4E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4E8A"/>
                </a:solidFill>
              </a:rPr>
              <a:t>A complete DevOps lifecycle around a working application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2651760"/>
            <a:ext cx="347472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300" dirty="0">
                <a:solidFill>
                  <a:srgbClr val="102023"/>
                </a:solidFill>
              </a:rPr>
              <a:t>Reproducible local runtime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Automated quality gates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Published backend image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Kubernetes orchestration proof</a:t>
            </a:r>
            <a:endParaRPr lang="en-US" sz="1300" dirty="0"/>
          </a:p>
          <a:p>
            <a:r>
              <a:rPr lang="en-US" sz="1300" dirty="0">
                <a:solidFill>
                  <a:srgbClr val="102023"/>
                </a:solidFill>
              </a:rPr>
              <a:t>Clear Git history and documentation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0" y="47091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5841B"/>
                </a:solidFill>
              </a:rPr>
              <a:t>FUTURE IMPROVEMENTS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60920" y="5074920"/>
            <a:ext cx="3749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23"/>
                </a:solidFill>
              </a:rPr>
              <a:t>Cloud Run / GKE deployment · authentication · monitoring dashboards · API gateway · database migrations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475720" y="6510528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D8C8D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SCE DevOps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Investor Platform</dc:title>
  <dc:subject>Intelligent Investor Platform DevOps Project</dc:subject>
  <dc:creator>OpenAI</dc:creator>
  <cp:lastModifiedBy>OpenAI</cp:lastModifiedBy>
  <cp:revision>1</cp:revision>
  <dcterms:created xsi:type="dcterms:W3CDTF">2026-06-14T13:46:40Z</dcterms:created>
  <dcterms:modified xsi:type="dcterms:W3CDTF">2026-06-14T13:46:40Z</dcterms:modified>
</cp:coreProperties>
</file>